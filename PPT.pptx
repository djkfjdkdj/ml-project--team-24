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9BB7D4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Neural Network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0.67090000000000005</c:v>
                </c:pt>
                <c:pt idx="1">
                  <c:v>0.65080000000000005</c:v>
                </c:pt>
                <c:pt idx="2">
                  <c:v>0.98670000000000002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3D2-4944-9D7E-5BE4BD5CBF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Holdout</c:v>
                </c:pt>
              </c:strCache>
            </c:strRef>
          </c:tx>
          <c:spPr>
            <a:solidFill>
              <a:srgbClr val="1F4E79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Neural Network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0.64610000000000001</c:v>
                </c:pt>
                <c:pt idx="1">
                  <c:v>0.65439999999999998</c:v>
                </c:pt>
                <c:pt idx="2">
                  <c:v>0.72199999999999998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3D2-4944-9D7E-5BE4BD5CBF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44C49-A1C8-4164-9C62-4CF59C8AC80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3F891-30C3-424F-B8B0-04E7B1539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22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Motivate: triage after a disaster needs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jkfjdkdj/ML-Project--Team-24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Application of Machine Learning Methods to Predict the Level of Building Damage in the Nepal Earthquake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dirty="0">
                <a:solidFill>
                  <a:srgbClr val="D6E6F5"/>
                </a:solidFill>
                <a:latin typeface="Calibri"/>
              </a:rPr>
              <a:t>UE24CS352A - Machine Learning | Mini-Project</a:t>
            </a:r>
          </a:p>
          <a:p>
            <a:pPr>
              <a:spcAft>
                <a:spcPts val="600"/>
              </a:spcAft>
            </a:pPr>
            <a:r>
              <a:rPr sz="1800" b="0" dirty="0">
                <a:solidFill>
                  <a:srgbClr val="D6E6F5"/>
                </a:solidFill>
                <a:latin typeface="Calibri"/>
              </a:rPr>
              <a:t>[</a:t>
            </a:r>
            <a:r>
              <a:rPr lang="en-IN" dirty="0">
                <a:solidFill>
                  <a:srgbClr val="D6E6F5"/>
                </a:solidFill>
                <a:latin typeface="Calibri"/>
              </a:rPr>
              <a:t>VINODKUMAR L</a:t>
            </a:r>
            <a:r>
              <a:rPr sz="1800" b="0" dirty="0">
                <a:solidFill>
                  <a:srgbClr val="D6E6F5"/>
                </a:solidFill>
                <a:latin typeface="Calibri"/>
              </a:rPr>
              <a:t>- </a:t>
            </a:r>
            <a:r>
              <a:rPr lang="en-IN" sz="1800" b="0" dirty="0">
                <a:solidFill>
                  <a:srgbClr val="D6E6F5"/>
                </a:solidFill>
                <a:latin typeface="Calibri"/>
              </a:rPr>
              <a:t>PES1UG25AM817</a:t>
            </a:r>
            <a:r>
              <a:rPr sz="1800" b="0" dirty="0">
                <a:solidFill>
                  <a:srgbClr val="D6E6F5"/>
                </a:solidFill>
                <a:latin typeface="Calibri"/>
              </a:rPr>
              <a:t>] | </a:t>
            </a:r>
            <a:r>
              <a:rPr lang="en-IN" sz="1800" b="0" dirty="0">
                <a:solidFill>
                  <a:srgbClr val="D6E6F5"/>
                </a:solidFill>
                <a:latin typeface="Calibri"/>
              </a:rPr>
              <a:t>[HARSHITH K </a:t>
            </a:r>
            <a:r>
              <a:rPr lang="en-IN" sz="1800" b="0" dirty="0" err="1">
                <a:solidFill>
                  <a:srgbClr val="D6E6F5"/>
                </a:solidFill>
                <a:latin typeface="Calibri"/>
              </a:rPr>
              <a:t>K</a:t>
            </a:r>
            <a:r>
              <a:rPr lang="en-IN" sz="1800" b="0" dirty="0">
                <a:solidFill>
                  <a:srgbClr val="D6E6F5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D6E6F5"/>
                </a:solidFill>
                <a:latin typeface="Calibri"/>
              </a:rPr>
              <a:t> - </a:t>
            </a:r>
            <a:r>
              <a:rPr lang="en-IN" dirty="0">
                <a:solidFill>
                  <a:srgbClr val="D6E6F5"/>
                </a:solidFill>
                <a:latin typeface="Calibri"/>
              </a:rPr>
              <a:t>PES1UG24AM370</a:t>
            </a:r>
            <a:r>
              <a:rPr sz="1800" b="0" dirty="0">
                <a:solidFill>
                  <a:srgbClr val="D6E6F5"/>
                </a:solidFill>
                <a:latin typeface="Calibri"/>
              </a:rPr>
              <a:t>] | Section [</a:t>
            </a:r>
            <a:r>
              <a:rPr lang="en-IN" sz="1800" b="0" dirty="0">
                <a:solidFill>
                  <a:srgbClr val="D6E6F5"/>
                </a:solidFill>
                <a:latin typeface="Calibri"/>
              </a:rPr>
              <a:t>G</a:t>
            </a:r>
            <a:r>
              <a:rPr sz="1800" b="0" dirty="0">
                <a:solidFill>
                  <a:srgbClr val="D6E6F5"/>
                </a:solidFill>
                <a:latin typeface="Calibri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April 2015 Gorkha earthquake: hundreds of thousands of buildings damaged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Engineering analysis per building is slow - we need fast triage for rescue &amp; reconstruction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Task: predict damage grade from building attributes (3-class classification)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Grade 1 = low damage  |  2 = medium  |  3 = near-complete destruction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Metric: micro-averaged F1 (DrivenData: Richter's Predictor)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2377440"/>
          </a:xfrm>
          <a:prstGeom prst="rect">
            <a:avLst/>
          </a:prstGeom>
          <a:solidFill>
            <a:srgbClr val="F2F6FA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train_values.csv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260,601 buildings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38 features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keyed by building_id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3566160" cy="2377440"/>
          </a:xfrm>
          <a:prstGeom prst="rect">
            <a:avLst/>
          </a:prstGeom>
          <a:solidFill>
            <a:srgbClr val="F2F6FA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train_labels.csv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damage_grade 1 / 2 / 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imbalanced: grade 2 is the majority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566160" cy="2377440"/>
          </a:xfrm>
          <a:prstGeom prst="rect">
            <a:avLst/>
          </a:prstGeom>
          <a:solidFill>
            <a:srgbClr val="F2F6FA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test_values.csv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86,868 buildings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labels hidden (DrivenData)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•  Features: geo-level IDs, floors, age, area/height %, 8 categorical attributes, 11 superstructure flags, 11 secondary-use flags, ownership, families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Approach &amp; 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Stratified 80 / 20 split of the labelled data - 20% holdout is touched only for final scoring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All model selection on the 80% part only (grid search CV, NN restarts on inner validation)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Preprocessing inside sklearn Pipelines -&gt; no leakage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KNN &amp; NN: one-hot + StandardScaler  |  Random Forest: ordinal encoding, no scaling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•  Best model refit on all labelled data -&gt; DrivenData submission.csv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Three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4206240"/>
          </a:xfrm>
          <a:prstGeom prst="rect">
            <a:avLst/>
          </a:prstGeom>
          <a:solidFill>
            <a:srgbClr val="F2F6FA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K-Nearest Neighbours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9184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Euclidean distance, k = 7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SelectKBest(f_classif) -&gt; top 20 features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Simple, non-parametric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Lazy: cost paid at prediction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3566160" cy="4206240"/>
          </a:xfrm>
          <a:prstGeom prst="rect">
            <a:avLst/>
          </a:prstGeom>
          <a:solidFill>
            <a:srgbClr val="F2F6FA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Neural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9184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From scratch in NumPy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sigmoid hidden, softmax output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L2 reg, mini-batch 1000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hidden = sqrt(n_in * n_out)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lr lowered until loss stabilised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566160" cy="4206240"/>
          </a:xfrm>
          <a:prstGeom prst="rect">
            <a:avLst/>
          </a:prstGeom>
          <a:solidFill>
            <a:srgbClr val="F2F6FA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329184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Bagged decision trees, Gini splits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GridSearchCV (3-fold):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min_samples_leaf, n_estimators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No scaling needed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Robust on mixed tabular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repo/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src/data.py          loading + preprocessing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src/neural_net.py    NumPy 2-layer NN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src/models.py        model factories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src/train.py         train, evaluate, plots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docs/                write-up + slide generators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run_all.py           one-command pipeline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Courier New"/>
              </a:rPr>
              <a:t>  results/             metrics, figures,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•  Python 3, scikit-learn, NumPy, pandas, matplotlib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•  Reproducible: fixed seeds, requirements.txt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•  Live demo: python run_all.py --fast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Train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Holdout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Fit time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18872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Holdout: 52,121 buildings | micro-F1 = accuracy for single-label problems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0"/>
            <a:ext cx="62865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Analysis</a:t>
            </a:r>
          </a:p>
        </p:txBody>
      </p:sp>
      <p:pic>
        <p:nvPicPr>
          <p:cNvPr id="4" name="Picture 3" descr="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840941" cy="3291840"/>
          </a:xfrm>
          <a:prstGeom prst="rect">
            <a:avLst/>
          </a:prstGeom>
        </p:spPr>
      </p:pic>
      <p:pic>
        <p:nvPicPr>
          <p:cNvPr id="5" name="Picture 4" descr="nn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14350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Left: which features the Random Forest relies on.  Right: NN training loss per epoch.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The Random Forest shows a train-holdout gap of 0.265 (0.9867 vs 0.7220), indicating overfitting; limiting depth or raising min_samples_leaf would help.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555555"/>
                </a:solidFill>
                <a:latin typeface="Calibri"/>
              </a:rPr>
              <a:t>•  Random Forest achieved the best holdout micro-F1 (0.7220); KNN was lowest (0.6461). Fastest to train: KNN (1s).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555555"/>
                </a:solidFill>
                <a:latin typeface="Calibri"/>
              </a:rPr>
              <a:t>•  The Random Forest shows a train-holdout gap of 0.265 (0.9867 vs 0.7220), indicating overfitting; limiting depth or raising min_samples_leaf would help.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555555"/>
                </a:solidFill>
                <a:latin typeface="Calibri"/>
              </a:rPr>
              <a:t>•  Per-grade recall of the best model: grade 1 = 0.49, grade 2 = 0.83, grade 3 = 0.61.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555555"/>
                </a:solidFill>
                <a:latin typeface="Calibri"/>
              </a:rPr>
              <a:t>•  Future work: gradient boosting (LightGBM/XGBoost), one-hot geo-level IDs, class weights, stronger regularisation for the forest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Thank you - Q&amp;A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dirty="0">
                <a:solidFill>
                  <a:srgbClr val="1F4E79"/>
                </a:solidFill>
                <a:latin typeface="Calibri"/>
              </a:rPr>
              <a:t>GitHub: </a:t>
            </a:r>
            <a:r>
              <a:rPr lang="en-IN" sz="2200" dirty="0">
                <a:solidFill>
                  <a:srgbClr val="1F4E79"/>
                </a:solidFill>
                <a:hlinkClick r:id="rId2"/>
              </a:rPr>
              <a:t>https://github.com/djkfjdkdj/ML-Project--Team-24</a:t>
            </a:r>
            <a:endParaRPr lang="en-IN" sz="2200" dirty="0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2200" b="0" dirty="0">
                <a:solidFill>
                  <a:srgbClr val="1F4E79"/>
                </a:solidFill>
                <a:latin typeface="Calibri"/>
              </a:rPr>
              <a:t>python run_all.py --</a:t>
            </a:r>
            <a:r>
              <a:rPr sz="2200" b="0" dirty="0" err="1">
                <a:solidFill>
                  <a:srgbClr val="1F4E79"/>
                </a:solidFill>
                <a:latin typeface="Calibri"/>
              </a:rPr>
              <a:t>data_dir</a:t>
            </a:r>
            <a:r>
              <a:rPr sz="2200" b="0" dirty="0">
                <a:solidFill>
                  <a:srgbClr val="1F4E79"/>
                </a:solidFill>
                <a:latin typeface="Calibri"/>
              </a:rPr>
              <a:t> data</a:t>
            </a:r>
            <a:br>
              <a:rPr lang="en-IN" sz="2200" b="0" dirty="0">
                <a:solidFill>
                  <a:srgbClr val="1F4E79"/>
                </a:solidFill>
                <a:latin typeface="Calibri"/>
              </a:rPr>
            </a:br>
            <a:endParaRPr sz="2200" b="0" dirty="0">
              <a:solidFill>
                <a:srgbClr val="1F4E79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695</Words>
  <Application>Microsoft Office PowerPoint</Application>
  <PresentationFormat>Widescreen</PresentationFormat>
  <Paragraphs>91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 L</cp:lastModifiedBy>
  <cp:revision>4</cp:revision>
  <dcterms:created xsi:type="dcterms:W3CDTF">2013-01-27T09:14:16Z</dcterms:created>
  <dcterms:modified xsi:type="dcterms:W3CDTF">2026-10-12T09:12:44Z</dcterms:modified>
  <cp:category/>
</cp:coreProperties>
</file>